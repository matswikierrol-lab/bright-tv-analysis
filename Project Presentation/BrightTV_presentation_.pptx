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Gender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3C3-4065-B21E-FBFD0DBEC0D0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C3-4065-B21E-FBFD0DBEC0D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C3-4065-B21E-FBFD0DBEC0D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C3-4065-B21E-FBFD0DBEC0D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3918</c:v>
                </c:pt>
                <c:pt idx="1">
                  <c:v>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C3-4065-B21E-FBFD0DBEC0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Users by Race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E4-4CDD-9B47-E164BA843752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E4-4CDD-9B47-E164BA843752}"/>
              </c:ext>
            </c:extLst>
          </c:dPt>
          <c:dPt>
            <c:idx val="2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E4-4CDD-9B47-E164BA843752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E4-4CDD-9B47-E164BA843752}"/>
              </c:ext>
            </c:extLst>
          </c:dPt>
          <c:dPt>
            <c:idx val="4"/>
            <c:invertIfNegative val="0"/>
            <c:bubble3D val="0"/>
            <c:spPr>
              <a:solidFill>
                <a:srgbClr val="F4C4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EE4-4CDD-9B47-E164BA84375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Indian/Asian</c:v>
                </c:pt>
                <c:pt idx="2">
                  <c:v>White</c:v>
                </c:pt>
                <c:pt idx="3">
                  <c:v>Coloured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1811</c:v>
                </c:pt>
                <c:pt idx="1">
                  <c:v>768</c:v>
                </c:pt>
                <c:pt idx="2">
                  <c:v>760</c:v>
                </c:pt>
                <c:pt idx="3">
                  <c:v>679</c:v>
                </c:pt>
                <c:pt idx="4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EE4-4CDD-9B47-E164BA8437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68F-42FA-8E8B-08BD4C3617C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68F-42FA-8E8B-08BD4C3617C3}"/>
              </c:ext>
            </c:extLst>
          </c:dPt>
          <c:dPt>
            <c:idx val="2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8F-42FA-8E8B-08BD4C3617C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68F-42FA-8E8B-08BD4C3617C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68F-42FA-8E8B-08BD4C3617C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68F-42FA-8E8B-08BD4C3617C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D68F-42FA-8E8B-08BD4C3617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&lt;18</c:v>
                </c:pt>
                <c:pt idx="1">
                  <c:v>18–24</c:v>
                </c:pt>
                <c:pt idx="2">
                  <c:v>25–34</c:v>
                </c:pt>
                <c:pt idx="3">
                  <c:v>35–44</c:v>
                </c:pt>
                <c:pt idx="4">
                  <c:v>45–54</c:v>
                </c:pt>
                <c:pt idx="5">
                  <c:v>55–64</c:v>
                </c:pt>
                <c:pt idx="6">
                  <c:v>65+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174</c:v>
                </c:pt>
                <c:pt idx="1">
                  <c:v>780</c:v>
                </c:pt>
                <c:pt idx="2">
                  <c:v>1867</c:v>
                </c:pt>
                <c:pt idx="3">
                  <c:v>1140</c:v>
                </c:pt>
                <c:pt idx="4">
                  <c:v>381</c:v>
                </c:pt>
                <c:pt idx="5">
                  <c:v>86</c:v>
                </c:pt>
                <c:pt idx="6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68F-42FA-8E8B-08BD4C3617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2E3-467C-99AD-72A04C4276E9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E3-467C-99AD-72A04C4276E9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E3-467C-99AD-72A04C4276E9}"/>
              </c:ext>
            </c:extLst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2E3-467C-99AD-72A04C4276E9}"/>
              </c:ext>
            </c:extLst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2E3-467C-99AD-72A04C4276E9}"/>
              </c:ext>
            </c:extLst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2E3-467C-99AD-72A04C4276E9}"/>
              </c:ext>
            </c:extLst>
          </c:dPt>
          <c:dPt>
            <c:idx val="6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2E3-467C-99AD-72A04C4276E9}"/>
              </c:ext>
            </c:extLst>
          </c:dPt>
          <c:dPt>
            <c:idx val="7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2E3-467C-99AD-72A04C4276E9}"/>
              </c:ext>
            </c:extLst>
          </c:dPt>
          <c:dPt>
            <c:idx val="8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2E3-467C-99AD-72A04C4276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KwaZulu-Natal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1704</c:v>
                </c:pt>
                <c:pt idx="1">
                  <c:v>791</c:v>
                </c:pt>
                <c:pt idx="2">
                  <c:v>481</c:v>
                </c:pt>
                <c:pt idx="3">
                  <c:v>421</c:v>
                </c:pt>
                <c:pt idx="4">
                  <c:v>368</c:v>
                </c:pt>
                <c:pt idx="5">
                  <c:v>287</c:v>
                </c:pt>
                <c:pt idx="6">
                  <c:v>161</c:v>
                </c:pt>
                <c:pt idx="7">
                  <c:v>156</c:v>
                </c:pt>
                <c:pt idx="8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2E3-467C-99AD-72A04C4276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4D-4EF1-B62B-5F60359A249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C4D-4EF1-B62B-5F60359A249F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C4D-4EF1-B62B-5F60359A249F}"/>
              </c:ext>
            </c:extLst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C4D-4EF1-B62B-5F60359A249F}"/>
              </c:ext>
            </c:extLst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C4D-4EF1-B62B-5F60359A249F}"/>
              </c:ext>
            </c:extLst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C4D-4EF1-B62B-5F60359A249F}"/>
              </c:ext>
            </c:extLst>
          </c:dPt>
          <c:dPt>
            <c:idx val="6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C4D-4EF1-B62B-5F60359A249F}"/>
              </c:ext>
            </c:extLst>
          </c:dPt>
          <c:dPt>
            <c:idx val="7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C4D-4EF1-B62B-5F60359A249F}"/>
              </c:ext>
            </c:extLst>
          </c:dPt>
          <c:dPt>
            <c:idx val="8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C4D-4EF1-B62B-5F60359A249F}"/>
              </c:ext>
            </c:extLst>
          </c:dPt>
          <c:dPt>
            <c:idx val="9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C4D-4EF1-B62B-5F60359A24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Supersport Live Events</c:v>
                </c:pt>
                <c:pt idx="1">
                  <c:v>ICC Cricket World Cup 2011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C4D-4EF1-B62B-5F60359A24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F4C43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0B-4F38-8CD6-7C61B22BB634}"/>
              </c:ext>
            </c:extLst>
          </c:dPt>
          <c:dPt>
            <c:idx val="1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0B-4F38-8CD6-7C61B22BB634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0B-4F38-8CD6-7C61B22BB634}"/>
              </c:ext>
            </c:extLst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0B-4F38-8CD6-7C61B22BB634}"/>
              </c:ext>
            </c:extLst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0B-4F38-8CD6-7C61B22BB634}"/>
              </c:ext>
            </c:extLst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0B-4F38-8CD6-7C61B22BB634}"/>
              </c:ext>
            </c:extLst>
          </c:dPt>
          <c:dPt>
            <c:idx val="6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E0B-4F38-8CD6-7C61B22BB634}"/>
              </c:ext>
            </c:extLst>
          </c:dPt>
          <c:dPt>
            <c:idx val="7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E0B-4F38-8CD6-7C61B22BB634}"/>
              </c:ext>
            </c:extLst>
          </c:dPt>
          <c:dPt>
            <c:idx val="8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E0B-4F38-8CD6-7C61B22BB634}"/>
              </c:ext>
            </c:extLst>
          </c:dPt>
          <c:dPt>
            <c:idx val="9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E0B-4F38-8CD6-7C61B22BB63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ICC Cricket World Cup</c:v>
                </c:pt>
                <c:pt idx="1">
                  <c:v>Supersport Live Events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Boomerang</c:v>
                </c:pt>
                <c:pt idx="6">
                  <c:v>Cartoon Network</c:v>
                </c:pt>
                <c:pt idx="7">
                  <c:v>CNN</c:v>
                </c:pt>
                <c:pt idx="8">
                  <c:v>Africa Magic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412</c:v>
                </c:pt>
                <c:pt idx="1">
                  <c:v>313</c:v>
                </c:pt>
                <c:pt idx="2">
                  <c:v>193</c:v>
                </c:pt>
                <c:pt idx="3">
                  <c:v>192</c:v>
                </c:pt>
                <c:pt idx="4">
                  <c:v>91</c:v>
                </c:pt>
                <c:pt idx="5">
                  <c:v>73</c:v>
                </c:pt>
                <c:pt idx="6">
                  <c:v>70</c:v>
                </c:pt>
                <c:pt idx="7">
                  <c:v>68</c:v>
                </c:pt>
                <c:pt idx="8">
                  <c:v>49</c:v>
                </c:pt>
                <c:pt idx="9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E0B-4F38-8CD6-7C61B22BB6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6E2-40A1-8E5F-C4D88389FAE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6E2-40A1-8E5F-C4D88389FAEF}"/>
              </c:ext>
            </c:extLst>
          </c:dPt>
          <c:dPt>
            <c:idx val="2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E2-40A1-8E5F-C4D88389FAE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2203</c:v>
                </c:pt>
                <c:pt idx="1">
                  <c:v>2976</c:v>
                </c:pt>
                <c:pt idx="2">
                  <c:v>4821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6E2-40A1-8E5F-C4D88389FA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8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71600"/>
            <a:ext cx="164592" cy="164592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9182" y="10287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800" dirty="0">
                <a:solidFill>
                  <a:srgbClr val="00A896"/>
                </a:solidFill>
              </a:rPr>
              <a:t>BRIGHT TV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Viewership Analytics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Report 2016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User Profiles · Channel Performance · Audience Demographics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Jan – Mar 2016  ·  5,375 Users  ·  10,000 Viewing Sessions</a:t>
            </a:r>
            <a:endParaRPr lang="en-US" sz="1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659B2B3-764B-46FB-8D32-0F589E0E62E5}"/>
              </a:ext>
            </a:extLst>
          </p:cNvPr>
          <p:cNvSpPr/>
          <p:nvPr/>
        </p:nvSpPr>
        <p:spPr>
          <a:xfrm>
            <a:off x="4983982" y="3486778"/>
            <a:ext cx="3155182" cy="1188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  </a:t>
            </a:r>
            <a:r>
              <a:rPr lang="en-US" sz="1600" dirty="0">
                <a:solidFill>
                  <a:srgbClr val="00B0F0"/>
                </a:solidFill>
              </a:rPr>
              <a:t>                   </a:t>
            </a:r>
            <a:r>
              <a:rPr lang="en-US" sz="2000" b="1" dirty="0">
                <a:solidFill>
                  <a:srgbClr val="00B0F0"/>
                </a:solidFill>
              </a:rPr>
              <a:t>Presented by: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              ERROL MATSWIKI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        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A896"/>
                </a:solidFill>
              </a:rPr>
              <a:t>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37160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1097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</a:rPr>
              <a:t>5,375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002536"/>
            <a:ext cx="1188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Registered 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1097280"/>
            <a:ext cx="1371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1234440"/>
            <a:ext cx="1097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</a:rPr>
              <a:t>4,386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83080" y="2002536"/>
            <a:ext cx="1188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Active Viewers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1371600" cy="1508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234440"/>
            <a:ext cx="1097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10,000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46120" y="2002536"/>
            <a:ext cx="1188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Viewing Sessions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1371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234440"/>
            <a:ext cx="1097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</a:rPr>
              <a:t>21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09160" y="2002536"/>
            <a:ext cx="1188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Channels Watched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137160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234440"/>
            <a:ext cx="1097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C430"/>
                </a:solidFill>
              </a:rPr>
              <a:t>1,523h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72200" y="2002536"/>
            <a:ext cx="1188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Total Watch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3800" y="1097280"/>
            <a:ext cx="1371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1234440"/>
            <a:ext cx="109728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</a:rPr>
              <a:t>9.1m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635240" y="2002536"/>
            <a:ext cx="1188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Avg Session Duration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Data Period: January – March 2016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</a:rPr>
              <a:t>SECTION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Audience Demographics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</a:rPr>
              <a:t>Who is watching Bright TV?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DEMOGRAPHICS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Gender &amp; Racial Composition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91440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DEMOGRAPHICS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 Profile of Viewers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09728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0" y="11430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27.7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0" y="1691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Average 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228600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23317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</a:rPr>
              <a:t>30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0" y="2880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Median 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3474720"/>
            <a:ext cx="23774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35204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C430"/>
                </a:solidFill>
              </a:rPr>
              <a:t>47%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400800" y="4069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Aged 25–34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25–34 is the dominant age cohort, making up nearly half the active user base.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DEMOGRAPHICS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Geographic Distribution by Province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59436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005840"/>
            <a:ext cx="2286000" cy="2286000"/>
          </a:xfrm>
          <a:prstGeom prst="rect">
            <a:avLst/>
          </a:prstGeom>
          <a:solidFill>
            <a:srgbClr val="EBF5F3"/>
          </a:solidFill>
          <a:ln w="1270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005840"/>
            <a:ext cx="2286000" cy="22860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🏆 Gauteng leads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with 31.7% of all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registered users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0" y="3474720"/>
            <a:ext cx="228600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3474720"/>
            <a:ext cx="228600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Top 3 provinces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account for 55.4%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of all users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A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</a:rPr>
              <a:t>SECTION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Channel Performance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</a:rPr>
              <a:t>Which channels capture the most attention?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CHANNEL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 10 Channels by Number of Views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8686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CHANNEL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Total Watch Time by Channel (hours)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59436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005840"/>
            <a:ext cx="2377440" cy="10515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92240" y="10698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412h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92240" y="1618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ICC Cricket — total watch time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92240" y="2240280"/>
            <a:ext cx="23774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23042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313h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9224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Supersport Live Events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92240" y="3474720"/>
            <a:ext cx="23774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35387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16.3m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492240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ICC avg session (longest)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VIEWERSHIP TRENDS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Monthly Viewing Sessions — Q1 2016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00584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0058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</a:rPr>
              <a:t>+35.2%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126480" y="1691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Jan → Feb growth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2468880"/>
            <a:ext cx="26517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2648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430"/>
                </a:solidFill>
              </a:rPr>
              <a:t>+62.0%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12648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Feb → Mar growth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3931920"/>
            <a:ext cx="2651760" cy="914400"/>
          </a:xfrm>
          <a:prstGeom prst="rect">
            <a:avLst/>
          </a:prstGeom>
          <a:solidFill>
            <a:srgbClr val="EBF5F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931920"/>
            <a:ext cx="265176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March had 119%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more sessions than January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A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</a:rPr>
              <a:t>SECTION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Strategic Insights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</a:rPr>
              <a:t>Key takeaways for decision-makers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Takeaways &amp;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Sports Content Dominates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Supersport &amp; Cricket together drive 31% of all views and over 40% of total watch time. Sports must remain a cornerstone of the content strategy.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54864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51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Young Urban Audience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764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47% of viewers are 25–34 and 32% are based in Gauteng. Targeted digital campaigns in urban hubs can maximise ROI.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54864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Strong Q1 Growth Trajectory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730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Viewership grew 119% from January to March — suggesting strong seasonal or content-driven momentum heading into Q2.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26080"/>
            <a:ext cx="54864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Music &amp; Entertainment Potential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730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Channel O and Trace TV collectively hold 2,000+ views, ranking 3rd–4th. Investing in Afro-centric music content may deepen audience loyalty.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800" dirty="0">
                <a:solidFill>
                  <a:srgbClr val="00A896"/>
                </a:solidFill>
              </a:rPr>
              <a:t>BRIGHT TV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</a:rPr>
              <a:t>Questions &amp; Discussion Welcome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Data Source: Bright TV Internal Dataset  ·  Period: January – March 2016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386</Words>
  <Application>Microsoft Office PowerPoint</Application>
  <PresentationFormat>On-screen Show (16:9)</PresentationFormat>
  <Paragraphs>107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TV Viewership Insights</dc:title>
  <dc:subject>PptxGenJS Presentation</dc:subject>
  <dc:creator>PptxGenJS</dc:creator>
  <cp:lastModifiedBy>Lebepe Errol Matswiki</cp:lastModifiedBy>
  <cp:revision>2</cp:revision>
  <dcterms:created xsi:type="dcterms:W3CDTF">2026-04-30T11:05:02Z</dcterms:created>
  <dcterms:modified xsi:type="dcterms:W3CDTF">2026-04-30T11:18:46Z</dcterms:modified>
</cp:coreProperties>
</file>