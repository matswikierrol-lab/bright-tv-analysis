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7" r:id="rId2"/>
    <p:sldId id="259" r:id="rId3"/>
    <p:sldId id="260" r:id="rId4"/>
    <p:sldId id="261" r:id="rId5"/>
    <p:sldId id="263" r:id="rId6"/>
    <p:sldId id="264" r:id="rId7"/>
    <p:sldId id="265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66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00000"/>
                </a:solidFill>
                <a:latin typeface="Arial"/>
              </a:rPr>
              <a:t>Gender Distribution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1B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3C3-4065-B21E-FBFD0DBEC0D0}"/>
              </c:ext>
            </c:extLst>
          </c:dPt>
          <c:dPt>
            <c:idx val="1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3C3-4065-B21E-FBFD0DBEC0D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3C3-4065-B21E-FBFD0DBEC0D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3C3-4065-B21E-FBFD0DBEC0D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3918</c:v>
                </c:pt>
                <c:pt idx="1">
                  <c:v>537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3C3-4065-B21E-FBFD0DBEC0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00000"/>
                </a:solidFill>
                <a:latin typeface="Arial"/>
              </a:rPr>
              <a:t>Users by Race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Users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EE4-4CDD-9B47-E164BA843752}"/>
              </c:ext>
            </c:extLst>
          </c:dPt>
          <c:dPt>
            <c:idx val="1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EE4-4CDD-9B47-E164BA843752}"/>
              </c:ext>
            </c:extLst>
          </c:dPt>
          <c:dPt>
            <c:idx val="2"/>
            <c:invertIfNegative val="0"/>
            <c:bubble3D val="0"/>
            <c:spPr>
              <a:solidFill>
                <a:srgbClr val="0D1B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EE4-4CDD-9B47-E164BA843752}"/>
              </c:ext>
            </c:extLst>
          </c:dPt>
          <c:dPt>
            <c:idx val="3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EE4-4CDD-9B47-E164BA843752}"/>
              </c:ext>
            </c:extLst>
          </c:dPt>
          <c:dPt>
            <c:idx val="4"/>
            <c:invertIfNegative val="0"/>
            <c:bubble3D val="0"/>
            <c:spPr>
              <a:solidFill>
                <a:srgbClr val="F4C43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EE4-4CDD-9B47-E164BA84375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Black</c:v>
                </c:pt>
                <c:pt idx="1">
                  <c:v>Indian/Asian</c:v>
                </c:pt>
                <c:pt idx="2">
                  <c:v>White</c:v>
                </c:pt>
                <c:pt idx="3">
                  <c:v>Coloured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1811</c:v>
                </c:pt>
                <c:pt idx="1">
                  <c:v>768</c:v>
                </c:pt>
                <c:pt idx="2">
                  <c:v>760</c:v>
                </c:pt>
                <c:pt idx="3">
                  <c:v>679</c:v>
                </c:pt>
                <c:pt idx="4">
                  <c:v>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EE4-4CDD-9B47-E164BA84375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Users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68F-42FA-8E8B-08BD4C3617C3}"/>
              </c:ext>
            </c:extLst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68F-42FA-8E8B-08BD4C3617C3}"/>
              </c:ext>
            </c:extLst>
          </c:dPt>
          <c:dPt>
            <c:idx val="2"/>
            <c:invertIfNegative val="0"/>
            <c:bubble3D val="0"/>
            <c:spPr>
              <a:solidFill>
                <a:srgbClr val="0D1B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68F-42FA-8E8B-08BD4C3617C3}"/>
              </c:ext>
            </c:extLst>
          </c:dPt>
          <c:dPt>
            <c:idx val="3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68F-42FA-8E8B-08BD4C3617C3}"/>
              </c:ext>
            </c:extLst>
          </c:dPt>
          <c:dPt>
            <c:idx val="4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68F-42FA-8E8B-08BD4C3617C3}"/>
              </c:ext>
            </c:extLst>
          </c:dPt>
          <c:dPt>
            <c:idx val="5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D68F-42FA-8E8B-08BD4C3617C3}"/>
              </c:ext>
            </c:extLst>
          </c:dPt>
          <c:dPt>
            <c:idx val="6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D68F-42FA-8E8B-08BD4C3617C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&lt;18</c:v>
                </c:pt>
                <c:pt idx="1">
                  <c:v>18–24</c:v>
                </c:pt>
                <c:pt idx="2">
                  <c:v>25–34</c:v>
                </c:pt>
                <c:pt idx="3">
                  <c:v>35–44</c:v>
                </c:pt>
                <c:pt idx="4">
                  <c:v>45–54</c:v>
                </c:pt>
                <c:pt idx="5">
                  <c:v>55–64</c:v>
                </c:pt>
                <c:pt idx="6">
                  <c:v>65+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174</c:v>
                </c:pt>
                <c:pt idx="1">
                  <c:v>780</c:v>
                </c:pt>
                <c:pt idx="2">
                  <c:v>1867</c:v>
                </c:pt>
                <c:pt idx="3">
                  <c:v>1140</c:v>
                </c:pt>
                <c:pt idx="4">
                  <c:v>381</c:v>
                </c:pt>
                <c:pt idx="5">
                  <c:v>86</c:v>
                </c:pt>
                <c:pt idx="6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D68F-42FA-8E8B-08BD4C3617C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0F4F8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Users</c:v>
                </c:pt>
              </c:strCache>
            </c:strRef>
          </c:tx>
          <c:spPr>
            <a:solidFill>
              <a:srgbClr val="0D1B2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2E3-467C-99AD-72A04C4276E9}"/>
              </c:ext>
            </c:extLst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2E3-467C-99AD-72A04C4276E9}"/>
              </c:ext>
            </c:extLst>
          </c:dPt>
          <c:dPt>
            <c:idx val="2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2E3-467C-99AD-72A04C4276E9}"/>
              </c:ext>
            </c:extLst>
          </c:dPt>
          <c:dPt>
            <c:idx val="3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2E3-467C-99AD-72A04C4276E9}"/>
              </c:ext>
            </c:extLst>
          </c:dPt>
          <c:dPt>
            <c:idx val="4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2E3-467C-99AD-72A04C4276E9}"/>
              </c:ext>
            </c:extLst>
          </c:dPt>
          <c:dPt>
            <c:idx val="5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12E3-467C-99AD-72A04C4276E9}"/>
              </c:ext>
            </c:extLst>
          </c:dPt>
          <c:dPt>
            <c:idx val="6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12E3-467C-99AD-72A04C4276E9}"/>
              </c:ext>
            </c:extLst>
          </c:dPt>
          <c:dPt>
            <c:idx val="7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12E3-467C-99AD-72A04C4276E9}"/>
              </c:ext>
            </c:extLst>
          </c:dPt>
          <c:dPt>
            <c:idx val="8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12E3-467C-99AD-72A04C4276E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Gauteng</c:v>
                </c:pt>
                <c:pt idx="1">
                  <c:v>Western Cape</c:v>
                </c:pt>
                <c:pt idx="2">
                  <c:v>KwaZulu-Natal</c:v>
                </c:pt>
                <c:pt idx="3">
                  <c:v>Mpumalanga</c:v>
                </c:pt>
                <c:pt idx="4">
                  <c:v>Limpopo</c:v>
                </c:pt>
                <c:pt idx="5">
                  <c:v>Eastern Cape</c:v>
                </c:pt>
                <c:pt idx="6">
                  <c:v>North West</c:v>
                </c:pt>
                <c:pt idx="7">
                  <c:v>Free State</c:v>
                </c:pt>
                <c:pt idx="8">
                  <c:v>Northern Cape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1704</c:v>
                </c:pt>
                <c:pt idx="1">
                  <c:v>791</c:v>
                </c:pt>
                <c:pt idx="2">
                  <c:v>481</c:v>
                </c:pt>
                <c:pt idx="3">
                  <c:v>421</c:v>
                </c:pt>
                <c:pt idx="4">
                  <c:v>368</c:v>
                </c:pt>
                <c:pt idx="5">
                  <c:v>287</c:v>
                </c:pt>
                <c:pt idx="6">
                  <c:v>161</c:v>
                </c:pt>
                <c:pt idx="7">
                  <c:v>156</c:v>
                </c:pt>
                <c:pt idx="8">
                  <c:v>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12E3-467C-99AD-72A04C4276E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Views</c:v>
                </c:pt>
              </c:strCache>
            </c:strRef>
          </c:tx>
          <c:spPr>
            <a:solidFill>
              <a:srgbClr val="0D1B2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C4D-4EF1-B62B-5F60359A249F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BC4D-4EF1-B62B-5F60359A249F}"/>
              </c:ext>
            </c:extLst>
          </c:dPt>
          <c:dPt>
            <c:idx val="2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C4D-4EF1-B62B-5F60359A249F}"/>
              </c:ext>
            </c:extLst>
          </c:dPt>
          <c:dPt>
            <c:idx val="3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C4D-4EF1-B62B-5F60359A249F}"/>
              </c:ext>
            </c:extLst>
          </c:dPt>
          <c:dPt>
            <c:idx val="4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C4D-4EF1-B62B-5F60359A249F}"/>
              </c:ext>
            </c:extLst>
          </c:dPt>
          <c:dPt>
            <c:idx val="5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BC4D-4EF1-B62B-5F60359A249F}"/>
              </c:ext>
            </c:extLst>
          </c:dPt>
          <c:dPt>
            <c:idx val="6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BC4D-4EF1-B62B-5F60359A249F}"/>
              </c:ext>
            </c:extLst>
          </c:dPt>
          <c:dPt>
            <c:idx val="7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BC4D-4EF1-B62B-5F60359A249F}"/>
              </c:ext>
            </c:extLst>
          </c:dPt>
          <c:dPt>
            <c:idx val="8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BC4D-4EF1-B62B-5F60359A249F}"/>
              </c:ext>
            </c:extLst>
          </c:dPt>
          <c:dPt>
            <c:idx val="9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BC4D-4EF1-B62B-5F60359A249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Supersport Live Events</c:v>
                </c:pt>
                <c:pt idx="1">
                  <c:v>ICC Cricket World Cup 2011</c:v>
                </c:pt>
                <c:pt idx="2">
                  <c:v>Channel O</c:v>
                </c:pt>
                <c:pt idx="3">
                  <c:v>Trace TV</c:v>
                </c:pt>
                <c:pt idx="4">
                  <c:v>SuperSport Blitz</c:v>
                </c:pt>
                <c:pt idx="5">
                  <c:v>Africa Magic</c:v>
                </c:pt>
                <c:pt idx="6">
                  <c:v>Cartoon Network</c:v>
                </c:pt>
                <c:pt idx="7">
                  <c:v>Boomerang</c:v>
                </c:pt>
                <c:pt idx="8">
                  <c:v>CNN</c:v>
                </c:pt>
                <c:pt idx="9">
                  <c:v>E! Entertainment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1638</c:v>
                </c:pt>
                <c:pt idx="1">
                  <c:v>1465</c:v>
                </c:pt>
                <c:pt idx="2">
                  <c:v>1050</c:v>
                </c:pt>
                <c:pt idx="3">
                  <c:v>952</c:v>
                </c:pt>
                <c:pt idx="4">
                  <c:v>896</c:v>
                </c:pt>
                <c:pt idx="5">
                  <c:v>859</c:v>
                </c:pt>
                <c:pt idx="6">
                  <c:v>793</c:v>
                </c:pt>
                <c:pt idx="7">
                  <c:v>714</c:v>
                </c:pt>
                <c:pt idx="8">
                  <c:v>505</c:v>
                </c:pt>
                <c:pt idx="9">
                  <c:v>367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BC4D-4EF1-B62B-5F60359A249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0F4F8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Hours</c:v>
                </c:pt>
              </c:strCache>
            </c:strRef>
          </c:tx>
          <c:spPr>
            <a:solidFill>
              <a:srgbClr val="F4C43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E0B-4F38-8CD6-7C61B22BB634}"/>
              </c:ext>
            </c:extLst>
          </c:dPt>
          <c:dPt>
            <c:idx val="1"/>
            <c:invertIfNegative val="0"/>
            <c:bubble3D val="0"/>
            <c:spPr>
              <a:solidFill>
                <a:srgbClr val="0D1B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E0B-4F38-8CD6-7C61B22BB634}"/>
              </c:ext>
            </c:extLst>
          </c:dPt>
          <c:dPt>
            <c:idx val="2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E0B-4F38-8CD6-7C61B22BB634}"/>
              </c:ext>
            </c:extLst>
          </c:dPt>
          <c:dPt>
            <c:idx val="3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E0B-4F38-8CD6-7C61B22BB634}"/>
              </c:ext>
            </c:extLst>
          </c:dPt>
          <c:dPt>
            <c:idx val="4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E0B-4F38-8CD6-7C61B22BB634}"/>
              </c:ext>
            </c:extLst>
          </c:dPt>
          <c:dPt>
            <c:idx val="5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CE0B-4F38-8CD6-7C61B22BB634}"/>
              </c:ext>
            </c:extLst>
          </c:dPt>
          <c:dPt>
            <c:idx val="6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CE0B-4F38-8CD6-7C61B22BB634}"/>
              </c:ext>
            </c:extLst>
          </c:dPt>
          <c:dPt>
            <c:idx val="7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CE0B-4F38-8CD6-7C61B22BB634}"/>
              </c:ext>
            </c:extLst>
          </c:dPt>
          <c:dPt>
            <c:idx val="8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CE0B-4F38-8CD6-7C61B22BB634}"/>
              </c:ext>
            </c:extLst>
          </c:dPt>
          <c:dPt>
            <c:idx val="9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CE0B-4F38-8CD6-7C61B22BB63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ICC Cricket World Cup</c:v>
                </c:pt>
                <c:pt idx="1">
                  <c:v>Supersport Live Events</c:v>
                </c:pt>
                <c:pt idx="2">
                  <c:v>Channel O</c:v>
                </c:pt>
                <c:pt idx="3">
                  <c:v>Trace TV</c:v>
                </c:pt>
                <c:pt idx="4">
                  <c:v>SuperSport Blitz</c:v>
                </c:pt>
                <c:pt idx="5">
                  <c:v>Boomerang</c:v>
                </c:pt>
                <c:pt idx="6">
                  <c:v>Cartoon Network</c:v>
                </c:pt>
                <c:pt idx="7">
                  <c:v>CNN</c:v>
                </c:pt>
                <c:pt idx="8">
                  <c:v>Africa Magic</c:v>
                </c:pt>
                <c:pt idx="9">
                  <c:v>E! Entertainment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412</c:v>
                </c:pt>
                <c:pt idx="1">
                  <c:v>313</c:v>
                </c:pt>
                <c:pt idx="2">
                  <c:v>193</c:v>
                </c:pt>
                <c:pt idx="3">
                  <c:v>192</c:v>
                </c:pt>
                <c:pt idx="4">
                  <c:v>91</c:v>
                </c:pt>
                <c:pt idx="5">
                  <c:v>73</c:v>
                </c:pt>
                <c:pt idx="6">
                  <c:v>70</c:v>
                </c:pt>
                <c:pt idx="7">
                  <c:v>68</c:v>
                </c:pt>
                <c:pt idx="8">
                  <c:v>49</c:v>
                </c:pt>
                <c:pt idx="9">
                  <c:v>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CE0B-4F38-8CD6-7C61B22BB63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6E2-40A1-8E5F-C4D88389FAEF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26E2-40A1-8E5F-C4D88389FAEF}"/>
              </c:ext>
            </c:extLst>
          </c:dPt>
          <c:dPt>
            <c:idx val="2"/>
            <c:invertIfNegative val="0"/>
            <c:bubble3D val="0"/>
            <c:spPr>
              <a:solidFill>
                <a:srgbClr val="0D1B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6E2-40A1-8E5F-C4D88389FAE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2203</c:v>
                </c:pt>
                <c:pt idx="1">
                  <c:v>2976</c:v>
                </c:pt>
                <c:pt idx="2">
                  <c:v>4821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6E2-40A1-8E5F-C4D88389FAE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0F4F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28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00A896"/>
                </a:solidFill>
              </a:rPr>
              <a:t>AT A GLANCE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Key Performance Indicators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1371600" cy="1508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234440"/>
            <a:ext cx="109728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C39A"/>
                </a:solidFill>
              </a:rPr>
              <a:t>5,375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20040" y="2002536"/>
            <a:ext cx="1188720" cy="573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Registered Users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691640" y="1097280"/>
            <a:ext cx="13716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828800" y="1234440"/>
            <a:ext cx="109728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1B2A"/>
                </a:solidFill>
              </a:rPr>
              <a:t>4,386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783080" y="2002536"/>
            <a:ext cx="1188720" cy="573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Active Viewers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54680" y="1097280"/>
            <a:ext cx="1371600" cy="15087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91840" y="1234440"/>
            <a:ext cx="109728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10,000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246120" y="2002536"/>
            <a:ext cx="1188720" cy="573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Viewing Sessions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1097280"/>
            <a:ext cx="13716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0" y="1234440"/>
            <a:ext cx="109728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1B2A"/>
                </a:solidFill>
              </a:rPr>
              <a:t>21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709160" y="2002536"/>
            <a:ext cx="1188720" cy="573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Channels Watched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1097280"/>
            <a:ext cx="1371600" cy="1508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17920" y="1234440"/>
            <a:ext cx="109728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4C430"/>
                </a:solidFill>
              </a:rPr>
              <a:t>1,523h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172200" y="2002536"/>
            <a:ext cx="1188720" cy="573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Total Watch Time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543800" y="1097280"/>
            <a:ext cx="13716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680960" y="1234440"/>
            <a:ext cx="109728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A896"/>
                </a:solidFill>
              </a:rPr>
              <a:t>9.1m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635240" y="2002536"/>
            <a:ext cx="1188720" cy="573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Avg Session Duration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Data Period: January – March 2016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A896"/>
                </a:solidFill>
              </a:rPr>
              <a:t>DEMOGRAPHICS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918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Gender &amp; Racial Composition</a:t>
            </a:r>
            <a:endParaRPr lang="en-US" sz="2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914400"/>
          <a:ext cx="41148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4572000" y="914400"/>
          <a:ext cx="429768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A896"/>
                </a:solidFill>
              </a:rPr>
              <a:t>DEMOGRAPHICS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918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Age Profile of Viewers</a:t>
            </a:r>
            <a:endParaRPr lang="en-US" sz="2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914400"/>
          <a:ext cx="566928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400800" y="1097280"/>
            <a:ext cx="2377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0" y="114300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B2A"/>
                </a:solidFill>
              </a:rPr>
              <a:t>27.7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400800" y="16916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Average Age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0" y="2286000"/>
            <a:ext cx="2377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00800" y="233172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B2A"/>
                </a:solidFill>
              </a:rPr>
              <a:t>30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6400800" y="28803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Median Age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00800" y="3474720"/>
            <a:ext cx="237744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400800" y="352044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C430"/>
                </a:solidFill>
              </a:rPr>
              <a:t>47%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6400800" y="40690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Aged 25–34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00800" y="4617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25–34 is the dominant age cohort, making up nearly half the active user base.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A896"/>
                </a:solidFill>
              </a:rPr>
              <a:t>DEMOGRAPHICS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918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Geographic Distribution by Province</a:t>
            </a:r>
            <a:endParaRPr lang="en-US" sz="2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914400"/>
          <a:ext cx="594360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583680" y="1005840"/>
            <a:ext cx="2286000" cy="2286000"/>
          </a:xfrm>
          <a:prstGeom prst="rect">
            <a:avLst/>
          </a:prstGeom>
          <a:solidFill>
            <a:srgbClr val="EBF5F3"/>
          </a:solidFill>
          <a:ln w="12700">
            <a:solidFill>
              <a:srgbClr val="00A89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583680" y="1005840"/>
            <a:ext cx="2286000" cy="22860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🏆 Gauteng leads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with 31.7% of all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registered users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583680" y="3474720"/>
            <a:ext cx="2286000" cy="1463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0" y="3474720"/>
            <a:ext cx="2286000" cy="14630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Top 3 provinces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account for 55.4%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of all users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A896"/>
                </a:solidFill>
              </a:rPr>
              <a:t>CHANNEL PERFORMANCE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918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Top 10 Channels by Number of Views</a:t>
            </a:r>
            <a:endParaRPr lang="en-US" sz="2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914400"/>
          <a:ext cx="868680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A896"/>
                </a:solidFill>
              </a:rPr>
              <a:t>CHANNEL PERFORMANCE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918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Total Watch Time by Channel (hours)</a:t>
            </a:r>
            <a:endParaRPr lang="en-US" sz="2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914400"/>
          <a:ext cx="594360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492240" y="1005840"/>
            <a:ext cx="2377440" cy="105156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92240" y="106984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B2A"/>
                </a:solidFill>
              </a:rPr>
              <a:t>412h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492240" y="16184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ICC Cricket — total watch time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92240" y="2240280"/>
            <a:ext cx="2377440" cy="105156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92240" y="230428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B2A"/>
                </a:solidFill>
              </a:rPr>
              <a:t>313h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492240" y="28529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Supersport Live Events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492240" y="3474720"/>
            <a:ext cx="2377440" cy="105156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492240" y="353872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B2A"/>
                </a:solidFill>
              </a:rPr>
              <a:t>16.3m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6492240" y="40873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ICC avg session (longest)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A896"/>
                </a:solidFill>
              </a:rPr>
              <a:t>VIEWERSHIP TRENDS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918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Monthly Viewing Sessions — Q1 2016</a:t>
            </a:r>
            <a:endParaRPr lang="en-US" sz="2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731520" y="1005840"/>
          <a:ext cx="502920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126480" y="100584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126480" y="10515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A896"/>
                </a:solidFill>
              </a:rPr>
              <a:t>+35.2%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126480" y="16916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Jan → Feb growth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26480" y="2468880"/>
            <a:ext cx="265176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126480" y="25146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C430"/>
                </a:solidFill>
              </a:rPr>
              <a:t>+62.0%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6126480" y="31546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Feb → Mar growth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26480" y="3931920"/>
            <a:ext cx="2651760" cy="914400"/>
          </a:xfrm>
          <a:prstGeom prst="rect">
            <a:avLst/>
          </a:prstGeom>
          <a:solidFill>
            <a:srgbClr val="EBF5F3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26480" y="3931920"/>
            <a:ext cx="2651760" cy="914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March had 119%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more sessions than January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175</Words>
  <Application>Microsoft Office PowerPoint</Application>
  <PresentationFormat>On-screen Show (16:9)</PresentationFormat>
  <Paragraphs>63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 TV Viewership Insights</dc:title>
  <dc:subject>PptxGenJS Presentation</dc:subject>
  <dc:creator>PptxGenJS</dc:creator>
  <cp:lastModifiedBy>Lebepe Errol Matswiki</cp:lastModifiedBy>
  <cp:revision>3</cp:revision>
  <dcterms:created xsi:type="dcterms:W3CDTF">2026-04-30T11:05:02Z</dcterms:created>
  <dcterms:modified xsi:type="dcterms:W3CDTF">2026-04-30T11:22:37Z</dcterms:modified>
</cp:coreProperties>
</file>